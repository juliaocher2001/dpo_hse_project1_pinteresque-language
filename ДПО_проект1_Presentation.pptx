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Afacad Flux"/>
      <p:regular r:id="rId24"/>
      <p:bold r:id="rId25"/>
    </p:embeddedFont>
    <p:embeddedFont>
      <p:font typeface="Heebo"/>
      <p:regular r:id="rId26"/>
      <p:bold r:id="rId27"/>
    </p:embeddedFont>
    <p:embeddedFont>
      <p:font typeface="Bricolage Grotesque ExtraLight"/>
      <p:regular r:id="rId28"/>
      <p:bold r:id="rId29"/>
    </p:embeddedFont>
    <p:embeddedFont>
      <p:font typeface="Bricolage Grotesque"/>
      <p:regular r:id="rId30"/>
      <p:bold r:id="rId31"/>
    </p:embeddedFont>
    <p:embeddedFont>
      <p:font typeface="Bricolage Grotesque Medium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AfacadFlux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ebo-regular.fntdata"/><Relationship Id="rId25" Type="http://schemas.openxmlformats.org/officeDocument/2006/relationships/font" Target="fonts/AfacadFlux-bold.fntdata"/><Relationship Id="rId28" Type="http://schemas.openxmlformats.org/officeDocument/2006/relationships/font" Target="fonts/BricolageGrotesqueExtraLight-regular.fntdata"/><Relationship Id="rId27" Type="http://schemas.openxmlformats.org/officeDocument/2006/relationships/font" Target="fonts/Heeb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ricolageGrotesqueExtra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ricolageGrotesque-bold.fntdata"/><Relationship Id="rId30" Type="http://schemas.openxmlformats.org/officeDocument/2006/relationships/font" Target="fonts/BricolageGrotesque-regular.fntdata"/><Relationship Id="rId11" Type="http://schemas.openxmlformats.org/officeDocument/2006/relationships/slide" Target="slides/slide7.xml"/><Relationship Id="rId33" Type="http://schemas.openxmlformats.org/officeDocument/2006/relationships/font" Target="fonts/BricolageGrotesqueMedium-bold.fntdata"/><Relationship Id="rId10" Type="http://schemas.openxmlformats.org/officeDocument/2006/relationships/slide" Target="slides/slide6.xml"/><Relationship Id="rId32" Type="http://schemas.openxmlformats.org/officeDocument/2006/relationships/font" Target="fonts/BricolageGrotesqueMedium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54dda1946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54dda1946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63d5164d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63d5164d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97af2fcc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97af2fcc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63d5164d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63d5164d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63d5164d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63d5164d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63d5164d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63d5164d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63d5164d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63d5164d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63d5164d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63d5164d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63d5164d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63d5164d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63d5164d6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c63d5164d6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63d5164d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63d5164d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63d5164d6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63d5164d6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63d5164d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c63d5164d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28600" y="2854200"/>
            <a:ext cx="7286400" cy="20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572000" y="1143439"/>
            <a:ext cx="1323600" cy="11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eebo"/>
              <a:buNone/>
              <a:defRPr sz="1600">
                <a:latin typeface="Heebo"/>
                <a:ea typeface="Heebo"/>
                <a:cs typeface="Heebo"/>
                <a:sym typeface="Heeb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228600" y="3336550"/>
            <a:ext cx="6522900" cy="15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6751500" y="827594"/>
            <a:ext cx="1652100" cy="1211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228600" y="2286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228600" y="999327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228750" y="228600"/>
            <a:ext cx="2591700" cy="23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3768000" y="1795575"/>
            <a:ext cx="5147400" cy="12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3767953" y="1242975"/>
            <a:ext cx="5147400" cy="6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3767925" y="3669600"/>
            <a:ext cx="5147400" cy="12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3767855" y="3117000"/>
            <a:ext cx="5147400" cy="6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228600" y="4148475"/>
            <a:ext cx="48351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subTitle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228600" y="228600"/>
            <a:ext cx="3594000" cy="9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hasCustomPrompt="1" idx="2" type="title"/>
          </p:nvPr>
        </p:nvSpPr>
        <p:spPr>
          <a:xfrm>
            <a:off x="228719" y="2952800"/>
            <a:ext cx="2400600" cy="13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b="0" sz="950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subTitle"/>
          </p:nvPr>
        </p:nvSpPr>
        <p:spPr>
          <a:xfrm>
            <a:off x="228600" y="1157700"/>
            <a:ext cx="3594000" cy="80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hasCustomPrompt="1" idx="3" type="title"/>
          </p:nvPr>
        </p:nvSpPr>
        <p:spPr>
          <a:xfrm>
            <a:off x="6515091" y="2952800"/>
            <a:ext cx="2400600" cy="13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b="0" sz="950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41" name="Google Shape;41;p11"/>
          <p:cNvSpPr txBox="1"/>
          <p:nvPr>
            <p:ph hasCustomPrompt="1" idx="4" type="title"/>
          </p:nvPr>
        </p:nvSpPr>
        <p:spPr>
          <a:xfrm>
            <a:off x="3371760" y="2952800"/>
            <a:ext cx="2400600" cy="13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b="0" sz="950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/>
          <p:nvPr>
            <p:ph idx="5" type="subTitle"/>
          </p:nvPr>
        </p:nvSpPr>
        <p:spPr>
          <a:xfrm>
            <a:off x="228600" y="4155300"/>
            <a:ext cx="2400600" cy="75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6" type="subTitle"/>
          </p:nvPr>
        </p:nvSpPr>
        <p:spPr>
          <a:xfrm>
            <a:off x="6514972" y="4155300"/>
            <a:ext cx="2400600" cy="75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7" type="subTitle"/>
          </p:nvPr>
        </p:nvSpPr>
        <p:spPr>
          <a:xfrm>
            <a:off x="3371640" y="4155300"/>
            <a:ext cx="2400600" cy="75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hasCustomPrompt="1" idx="8" type="title"/>
          </p:nvPr>
        </p:nvSpPr>
        <p:spPr>
          <a:xfrm>
            <a:off x="6515091" y="228600"/>
            <a:ext cx="2400600" cy="13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b="0" sz="950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9" type="subTitle"/>
          </p:nvPr>
        </p:nvSpPr>
        <p:spPr>
          <a:xfrm>
            <a:off x="6514972" y="1431100"/>
            <a:ext cx="2400600" cy="75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228600" y="3322775"/>
            <a:ext cx="3429000" cy="15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hasCustomPrompt="1" idx="2" type="title"/>
          </p:nvPr>
        </p:nvSpPr>
        <p:spPr>
          <a:xfrm>
            <a:off x="1588833" y="228602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1562777" y="47307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hasCustomPrompt="1" idx="3" type="title"/>
          </p:nvPr>
        </p:nvSpPr>
        <p:spPr>
          <a:xfrm>
            <a:off x="228592" y="1493565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/>
          <p:nvPr>
            <p:ph idx="4" type="subTitle"/>
          </p:nvPr>
        </p:nvSpPr>
        <p:spPr>
          <a:xfrm>
            <a:off x="228598" y="173802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hasCustomPrompt="1" idx="5" type="title"/>
          </p:nvPr>
        </p:nvSpPr>
        <p:spPr>
          <a:xfrm>
            <a:off x="3898029" y="228602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idx="6" type="subTitle"/>
          </p:nvPr>
        </p:nvSpPr>
        <p:spPr>
          <a:xfrm>
            <a:off x="3898025" y="47307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hasCustomPrompt="1" idx="7" type="title"/>
          </p:nvPr>
        </p:nvSpPr>
        <p:spPr>
          <a:xfrm>
            <a:off x="6207225" y="228602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idx="8" type="subTitle"/>
          </p:nvPr>
        </p:nvSpPr>
        <p:spPr>
          <a:xfrm>
            <a:off x="6207225" y="47307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hasCustomPrompt="1" idx="9" type="title"/>
          </p:nvPr>
        </p:nvSpPr>
        <p:spPr>
          <a:xfrm>
            <a:off x="2537808" y="1493565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13" type="subTitle"/>
          </p:nvPr>
        </p:nvSpPr>
        <p:spPr>
          <a:xfrm>
            <a:off x="2537802" y="173802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hasCustomPrompt="1" idx="14" type="title"/>
          </p:nvPr>
        </p:nvSpPr>
        <p:spPr>
          <a:xfrm>
            <a:off x="4847000" y="1493565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15" type="subTitle"/>
          </p:nvPr>
        </p:nvSpPr>
        <p:spPr>
          <a:xfrm>
            <a:off x="4847000" y="173802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16" type="title"/>
          </p:nvPr>
        </p:nvSpPr>
        <p:spPr>
          <a:xfrm>
            <a:off x="3898017" y="2758524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idx="17" type="subTitle"/>
          </p:nvPr>
        </p:nvSpPr>
        <p:spPr>
          <a:xfrm>
            <a:off x="3898023" y="3003000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hasCustomPrompt="1" idx="18" type="title"/>
          </p:nvPr>
        </p:nvSpPr>
        <p:spPr>
          <a:xfrm>
            <a:off x="6671900" y="2758524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idx="19" type="subTitle"/>
          </p:nvPr>
        </p:nvSpPr>
        <p:spPr>
          <a:xfrm>
            <a:off x="6671900" y="3003000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28600" y="3269200"/>
            <a:ext cx="3155400" cy="16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4517000" y="228600"/>
            <a:ext cx="3078300" cy="32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554398"/>
            <a:ext cx="3201600" cy="19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71" name="Google Shape;71;p15"/>
          <p:cNvSpPr/>
          <p:nvPr>
            <p:ph idx="2" type="pic"/>
          </p:nvPr>
        </p:nvSpPr>
        <p:spPr>
          <a:xfrm>
            <a:off x="228600" y="2871425"/>
            <a:ext cx="8687100" cy="20439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995400" y="228600"/>
            <a:ext cx="4920300" cy="22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1887000" y="3909000"/>
            <a:ext cx="70284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3309609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2" type="subTitle"/>
          </p:nvPr>
        </p:nvSpPr>
        <p:spPr>
          <a:xfrm>
            <a:off x="228450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6390000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hasCustomPrompt="1" idx="4" type="title"/>
          </p:nvPr>
        </p:nvSpPr>
        <p:spPr>
          <a:xfrm>
            <a:off x="3308991" y="228600"/>
            <a:ext cx="1640100" cy="76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6"/>
          <p:cNvSpPr txBox="1"/>
          <p:nvPr>
            <p:ph hasCustomPrompt="1" idx="5" type="title"/>
          </p:nvPr>
        </p:nvSpPr>
        <p:spPr>
          <a:xfrm>
            <a:off x="228475" y="228968"/>
            <a:ext cx="1706100" cy="7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6"/>
          <p:cNvSpPr txBox="1"/>
          <p:nvPr>
            <p:ph hasCustomPrompt="1" idx="6" type="title"/>
          </p:nvPr>
        </p:nvSpPr>
        <p:spPr>
          <a:xfrm>
            <a:off x="6390000" y="228600"/>
            <a:ext cx="1479300" cy="7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6"/>
          <p:cNvSpPr txBox="1"/>
          <p:nvPr>
            <p:ph idx="7" type="subTitle"/>
          </p:nvPr>
        </p:nvSpPr>
        <p:spPr>
          <a:xfrm>
            <a:off x="3309609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8" type="subTitle"/>
          </p:nvPr>
        </p:nvSpPr>
        <p:spPr>
          <a:xfrm>
            <a:off x="228450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9" type="subTitle"/>
          </p:nvPr>
        </p:nvSpPr>
        <p:spPr>
          <a:xfrm>
            <a:off x="6390000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228600" y="1159200"/>
            <a:ext cx="3248700" cy="28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5061325" y="647121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2" type="subTitle"/>
          </p:nvPr>
        </p:nvSpPr>
        <p:spPr>
          <a:xfrm>
            <a:off x="5061325" y="228675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hasCustomPrompt="1" idx="3" type="title"/>
          </p:nvPr>
        </p:nvSpPr>
        <p:spPr>
          <a:xfrm>
            <a:off x="4500325" y="228595"/>
            <a:ext cx="56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7"/>
          <p:cNvSpPr txBox="1"/>
          <p:nvPr>
            <p:ph idx="4" type="subTitle"/>
          </p:nvPr>
        </p:nvSpPr>
        <p:spPr>
          <a:xfrm>
            <a:off x="5061325" y="1871014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5" type="subTitle"/>
          </p:nvPr>
        </p:nvSpPr>
        <p:spPr>
          <a:xfrm>
            <a:off x="5061325" y="1452568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hasCustomPrompt="1" idx="6" type="title"/>
          </p:nvPr>
        </p:nvSpPr>
        <p:spPr>
          <a:xfrm>
            <a:off x="4500325" y="1452487"/>
            <a:ext cx="56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7"/>
          <p:cNvSpPr txBox="1"/>
          <p:nvPr>
            <p:ph idx="7" type="subTitle"/>
          </p:nvPr>
        </p:nvSpPr>
        <p:spPr>
          <a:xfrm>
            <a:off x="5061325" y="3094907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8" type="subTitle"/>
          </p:nvPr>
        </p:nvSpPr>
        <p:spPr>
          <a:xfrm>
            <a:off x="5061325" y="2676461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hasCustomPrompt="1" idx="9" type="title"/>
          </p:nvPr>
        </p:nvSpPr>
        <p:spPr>
          <a:xfrm>
            <a:off x="4500325" y="2676378"/>
            <a:ext cx="56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7"/>
          <p:cNvSpPr txBox="1"/>
          <p:nvPr>
            <p:ph idx="13" type="subTitle"/>
          </p:nvPr>
        </p:nvSpPr>
        <p:spPr>
          <a:xfrm>
            <a:off x="5061325" y="4318799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4" type="subTitle"/>
          </p:nvPr>
        </p:nvSpPr>
        <p:spPr>
          <a:xfrm>
            <a:off x="5061325" y="3900353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hasCustomPrompt="1" idx="15" type="title"/>
          </p:nvPr>
        </p:nvSpPr>
        <p:spPr>
          <a:xfrm>
            <a:off x="4500325" y="3900270"/>
            <a:ext cx="56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054850" y="3056150"/>
            <a:ext cx="5860500" cy="18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" type="subTitle"/>
          </p:nvPr>
        </p:nvSpPr>
        <p:spPr>
          <a:xfrm>
            <a:off x="4425843" y="228611"/>
            <a:ext cx="24909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/>
        </p:nvSpPr>
        <p:spPr>
          <a:xfrm>
            <a:off x="228600" y="2803984"/>
            <a:ext cx="25722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Heebo"/>
                <a:ea typeface="Heebo"/>
                <a:cs typeface="Heebo"/>
                <a:sym typeface="Heebo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endParaRPr b="1" sz="1000" u="sng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Bricolage Grotesque"/>
              <a:buNone/>
              <a:defRPr b="1" sz="4500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936050"/>
            <a:ext cx="8686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2.jpg"/><Relationship Id="rId5" Type="http://schemas.openxmlformats.org/officeDocument/2006/relationships/image" Target="../media/image1.jpg"/><Relationship Id="rId6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ctrTitle"/>
          </p:nvPr>
        </p:nvSpPr>
        <p:spPr>
          <a:xfrm>
            <a:off x="0" y="1006450"/>
            <a:ext cx="7286400" cy="20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The analysis and comparison of Pinteresque language </a:t>
            </a:r>
            <a:endParaRPr b="0"/>
          </a:p>
        </p:txBody>
      </p:sp>
      <p:sp>
        <p:nvSpPr>
          <p:cNvPr id="111" name="Google Shape;111;p22"/>
          <p:cNvSpPr txBox="1"/>
          <p:nvPr>
            <p:ph idx="1" type="subTitle"/>
          </p:nvPr>
        </p:nvSpPr>
        <p:spPr>
          <a:xfrm>
            <a:off x="7832400" y="0"/>
            <a:ext cx="1311600" cy="11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HSE DPO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/>
        </p:nvSpPr>
        <p:spPr>
          <a:xfrm>
            <a:off x="0" y="28800"/>
            <a:ext cx="42093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Очеретина Юлия Максимовна</a:t>
            </a:r>
            <a:endParaRPr sz="16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68700" y="58575"/>
            <a:ext cx="6522900" cy="15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700"/>
              <a:t>project</a:t>
            </a:r>
            <a:r>
              <a:rPr b="0" lang="en" sz="3400"/>
              <a:t> </a:t>
            </a:r>
            <a:endParaRPr b="0"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0"/>
              <a:t>steps:</a:t>
            </a:r>
            <a:endParaRPr sz="8500"/>
          </a:p>
        </p:txBody>
      </p:sp>
      <p:sp>
        <p:nvSpPr>
          <p:cNvPr id="118" name="Google Shape;118;p23"/>
          <p:cNvSpPr txBox="1"/>
          <p:nvPr>
            <p:ph idx="4294967295" type="subTitle"/>
          </p:nvPr>
        </p:nvSpPr>
        <p:spPr>
          <a:xfrm>
            <a:off x="68700" y="1865525"/>
            <a:ext cx="7267500" cy="26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Выбор темы и подготовка корпуса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Подбор необходимых библиотек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Очистка, препроцессинг собранного корпуса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Подсчет необходимых элементов языка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Работа с частотными списками и функциями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Анализ через ipm, TF-IDF, </a:t>
            </a:r>
            <a:r>
              <a:rPr lang="en" sz="2000"/>
              <a:t>Likelihood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Выводы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200925" y="141225"/>
            <a:ext cx="3820500" cy="16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Pinteresque language</a:t>
            </a:r>
            <a:endParaRPr sz="4000"/>
          </a:p>
        </p:txBody>
      </p:sp>
      <p:sp>
        <p:nvSpPr>
          <p:cNvPr id="124" name="Google Shape;124;p24"/>
          <p:cNvSpPr txBox="1"/>
          <p:nvPr>
            <p:ph idx="1" type="subTitle"/>
          </p:nvPr>
        </p:nvSpPr>
        <p:spPr>
          <a:xfrm>
            <a:off x="200925" y="1852150"/>
            <a:ext cx="8268000" cy="39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 dramatic style characterized by menacing ambiguity, long </a:t>
            </a:r>
            <a:r>
              <a:rPr b="1" lang="en" sz="1700"/>
              <a:t>pauses</a:t>
            </a:r>
            <a:r>
              <a:rPr lang="en" sz="1700"/>
              <a:t>, and seemingly trivial, </a:t>
            </a:r>
            <a:r>
              <a:rPr b="1" lang="en" sz="1700"/>
              <a:t>colloquial</a:t>
            </a:r>
            <a:r>
              <a:rPr lang="en" sz="1700"/>
              <a:t> </a:t>
            </a:r>
            <a:r>
              <a:rPr b="1" lang="en" sz="1700"/>
              <a:t>dialogue</a:t>
            </a:r>
            <a:r>
              <a:rPr lang="en" sz="1700"/>
              <a:t> that masks deep underlying tension.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Originating from Nobel laureate Harold Pinter's work (e.g., The Birthday Party), it often features characters trapped in enclosed spaces where power dynamics and, crucially, what is unsaid, create suspense.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/>
              <a:t>стиль характеризуется длинными паузами, подтекстом, повторениями, недосказанностью и угрожающей атмосферой, </a:t>
            </a:r>
            <a:r>
              <a:rPr lang="en" sz="1700" u="sng">
                <a:highlight>
                  <a:srgbClr val="FFF2CC"/>
                </a:highlight>
              </a:rPr>
              <a:t>где молчание важнее слов</a:t>
            </a:r>
            <a:r>
              <a:rPr lang="en" sz="1700" u="sng"/>
              <a:t>. </a:t>
            </a:r>
            <a:endParaRPr sz="17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 title="Снимок 07.02.2026 в 01.4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715303" cy="48386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>
            <p:ph idx="4294967295" type="title"/>
          </p:nvPr>
        </p:nvSpPr>
        <p:spPr>
          <a:xfrm rot="5400000">
            <a:off x="5995500" y="1183875"/>
            <a:ext cx="3599100" cy="16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Сбор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корпуса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Pinteresque language:</a:t>
            </a:r>
            <a:endParaRPr/>
          </a:p>
        </p:txBody>
      </p:sp>
      <p:sp>
        <p:nvSpPr>
          <p:cNvPr id="136" name="Google Shape;136;p26"/>
          <p:cNvSpPr txBox="1"/>
          <p:nvPr/>
        </p:nvSpPr>
        <p:spPr>
          <a:xfrm>
            <a:off x="228600" y="1960575"/>
            <a:ext cx="18765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Хезитация (...) и вопросы (?)</a:t>
            </a:r>
            <a:endParaRPr sz="18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228600" y="1082575"/>
            <a:ext cx="187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01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cxnSp>
        <p:nvCxnSpPr>
          <p:cNvPr id="138" name="Google Shape;138;p26"/>
          <p:cNvCxnSpPr/>
          <p:nvPr/>
        </p:nvCxnSpPr>
        <p:spPr>
          <a:xfrm>
            <a:off x="224100" y="1004975"/>
            <a:ext cx="869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26"/>
          <p:cNvSpPr txBox="1"/>
          <p:nvPr/>
        </p:nvSpPr>
        <p:spPr>
          <a:xfrm>
            <a:off x="2378875" y="1882974"/>
            <a:ext cx="18765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Pause</a:t>
            </a:r>
            <a:endParaRPr sz="18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Silence </a:t>
            </a:r>
            <a:endParaRPr sz="18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2498825" y="1082575"/>
            <a:ext cx="187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02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4436825" y="1882974"/>
            <a:ext cx="18765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Simple language → короткие, простые слова на бытовые темы</a:t>
            </a:r>
            <a:endParaRPr sz="18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4769050" y="1082575"/>
            <a:ext cx="187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03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228600" y="1159200"/>
            <a:ext cx="3248700" cy="28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Authors:</a:t>
            </a:r>
            <a:endParaRPr/>
          </a:p>
        </p:txBody>
      </p:sp>
      <p:sp>
        <p:nvSpPr>
          <p:cNvPr id="148" name="Google Shape;148;p27"/>
          <p:cNvSpPr txBox="1"/>
          <p:nvPr>
            <p:ph idx="1" type="subTitle"/>
          </p:nvPr>
        </p:nvSpPr>
        <p:spPr>
          <a:xfrm>
            <a:off x="5061325" y="647121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“The Birthday Party”, “The Collection”, “The lover”, “The Caretaker”, “The Dump Waiter”, “The Dwarfs”</a:t>
            </a:r>
            <a:endParaRPr/>
          </a:p>
        </p:txBody>
      </p:sp>
      <p:sp>
        <p:nvSpPr>
          <p:cNvPr id="149" name="Google Shape;149;p27"/>
          <p:cNvSpPr txBox="1"/>
          <p:nvPr>
            <p:ph idx="2" type="subTitle"/>
          </p:nvPr>
        </p:nvSpPr>
        <p:spPr>
          <a:xfrm>
            <a:off x="5061325" y="228675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Harold Pinter (1930-2008)</a:t>
            </a:r>
            <a:endParaRPr/>
          </a:p>
        </p:txBody>
      </p:sp>
      <p:sp>
        <p:nvSpPr>
          <p:cNvPr id="150" name="Google Shape;150;p27"/>
          <p:cNvSpPr txBox="1"/>
          <p:nvPr>
            <p:ph idx="3" type="title"/>
          </p:nvPr>
        </p:nvSpPr>
        <p:spPr>
          <a:xfrm>
            <a:off x="4500325" y="228595"/>
            <a:ext cx="5610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51" name="Google Shape;151;p27"/>
          <p:cNvSpPr txBox="1"/>
          <p:nvPr>
            <p:ph idx="4" type="subTitle"/>
          </p:nvPr>
        </p:nvSpPr>
        <p:spPr>
          <a:xfrm>
            <a:off x="5061325" y="1871014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“Waiting for Godot”, “Happy Days”</a:t>
            </a:r>
            <a:endParaRPr/>
          </a:p>
        </p:txBody>
      </p:sp>
      <p:sp>
        <p:nvSpPr>
          <p:cNvPr id="152" name="Google Shape;152;p27"/>
          <p:cNvSpPr txBox="1"/>
          <p:nvPr>
            <p:ph idx="5" type="subTitle"/>
          </p:nvPr>
        </p:nvSpPr>
        <p:spPr>
          <a:xfrm>
            <a:off x="5061325" y="1452555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Samuel Beckett (1906-1989)</a:t>
            </a:r>
            <a:endParaRPr/>
          </a:p>
        </p:txBody>
      </p:sp>
      <p:sp>
        <p:nvSpPr>
          <p:cNvPr id="153" name="Google Shape;153;p27"/>
          <p:cNvSpPr txBox="1"/>
          <p:nvPr>
            <p:ph idx="6" type="title"/>
          </p:nvPr>
        </p:nvSpPr>
        <p:spPr>
          <a:xfrm>
            <a:off x="4500325" y="1452487"/>
            <a:ext cx="5610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54" name="Google Shape;154;p27"/>
          <p:cNvSpPr txBox="1"/>
          <p:nvPr>
            <p:ph idx="7" type="subTitle"/>
          </p:nvPr>
        </p:nvSpPr>
        <p:spPr>
          <a:xfrm>
            <a:off x="5061325" y="3094907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“Duch Variants”, “Sexual Perversity in Chicago”, “Squirrels”</a:t>
            </a:r>
            <a:endParaRPr/>
          </a:p>
        </p:txBody>
      </p:sp>
      <p:sp>
        <p:nvSpPr>
          <p:cNvPr id="155" name="Google Shape;155;p27"/>
          <p:cNvSpPr txBox="1"/>
          <p:nvPr>
            <p:ph idx="8" type="subTitle"/>
          </p:nvPr>
        </p:nvSpPr>
        <p:spPr>
          <a:xfrm>
            <a:off x="5061325" y="2676461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 Mamet (1947)</a:t>
            </a:r>
            <a:endParaRPr/>
          </a:p>
        </p:txBody>
      </p:sp>
      <p:sp>
        <p:nvSpPr>
          <p:cNvPr id="156" name="Google Shape;156;p27"/>
          <p:cNvSpPr txBox="1"/>
          <p:nvPr>
            <p:ph idx="9" type="title"/>
          </p:nvPr>
        </p:nvSpPr>
        <p:spPr>
          <a:xfrm>
            <a:off x="4500325" y="2676378"/>
            <a:ext cx="5610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57" name="Google Shape;157;p27"/>
          <p:cNvSpPr txBox="1"/>
          <p:nvPr>
            <p:ph idx="13" type="subTitle"/>
          </p:nvPr>
        </p:nvSpPr>
        <p:spPr>
          <a:xfrm>
            <a:off x="5061325" y="4318799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“Night and Day”, “RGAD”</a:t>
            </a:r>
            <a:endParaRPr/>
          </a:p>
        </p:txBody>
      </p:sp>
      <p:sp>
        <p:nvSpPr>
          <p:cNvPr id="158" name="Google Shape;158;p27"/>
          <p:cNvSpPr txBox="1"/>
          <p:nvPr>
            <p:ph idx="14" type="subTitle"/>
          </p:nvPr>
        </p:nvSpPr>
        <p:spPr>
          <a:xfrm>
            <a:off x="5061325" y="3900353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 Stoppard (1937-2025)</a:t>
            </a:r>
            <a:endParaRPr/>
          </a:p>
        </p:txBody>
      </p:sp>
      <p:sp>
        <p:nvSpPr>
          <p:cNvPr id="159" name="Google Shape;159;p27"/>
          <p:cNvSpPr txBox="1"/>
          <p:nvPr>
            <p:ph idx="15" type="title"/>
          </p:nvPr>
        </p:nvSpPr>
        <p:spPr>
          <a:xfrm>
            <a:off x="4500325" y="3900270"/>
            <a:ext cx="5610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Очистка, препроцессинг, поиск элементов, частотные списки</a:t>
            </a:r>
            <a:endParaRPr sz="3000"/>
          </a:p>
        </p:txBody>
      </p:sp>
      <p:cxnSp>
        <p:nvCxnSpPr>
          <p:cNvPr id="165" name="Google Shape;165;p28"/>
          <p:cNvCxnSpPr/>
          <p:nvPr/>
        </p:nvCxnSpPr>
        <p:spPr>
          <a:xfrm>
            <a:off x="224250" y="1374050"/>
            <a:ext cx="869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6" name="Google Shape;166;p28" title="Снимок 07.02.2026 в 02.0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50" y="1636550"/>
            <a:ext cx="8839200" cy="3043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228750" y="1115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Абсолютные частоты</a:t>
            </a:r>
            <a:endParaRPr sz="3000"/>
          </a:p>
        </p:txBody>
      </p:sp>
      <p:cxnSp>
        <p:nvCxnSpPr>
          <p:cNvPr id="172" name="Google Shape;172;p29"/>
          <p:cNvCxnSpPr/>
          <p:nvPr/>
        </p:nvCxnSpPr>
        <p:spPr>
          <a:xfrm>
            <a:off x="224250" y="589750"/>
            <a:ext cx="869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9"/>
          <p:cNvSpPr txBox="1"/>
          <p:nvPr/>
        </p:nvSpPr>
        <p:spPr>
          <a:xfrm>
            <a:off x="210725" y="645125"/>
            <a:ext cx="1144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Pinter</a:t>
            </a:r>
            <a:endParaRPr sz="2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4187575" y="1067850"/>
            <a:ext cx="20484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50" y="1028100"/>
            <a:ext cx="3531450" cy="183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9350" y="1005650"/>
            <a:ext cx="3617724" cy="18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9"/>
          <p:cNvSpPr txBox="1"/>
          <p:nvPr/>
        </p:nvSpPr>
        <p:spPr>
          <a:xfrm>
            <a:off x="3864625" y="622925"/>
            <a:ext cx="20484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Beckett</a:t>
            </a:r>
            <a:endParaRPr sz="2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401" y="3196425"/>
            <a:ext cx="3531450" cy="183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9"/>
          <p:cNvSpPr txBox="1"/>
          <p:nvPr/>
        </p:nvSpPr>
        <p:spPr>
          <a:xfrm>
            <a:off x="210725" y="2782775"/>
            <a:ext cx="2242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Mamet</a:t>
            </a:r>
            <a:endParaRPr sz="2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pic>
        <p:nvPicPr>
          <p:cNvPr id="180" name="Google Shape;180;p29"/>
          <p:cNvPicPr preferRelativeResize="0"/>
          <p:nvPr/>
        </p:nvPicPr>
        <p:blipFill rotWithShape="1">
          <a:blip r:embed="rId6">
            <a:alphaModFix/>
          </a:blip>
          <a:srcRect b="-6055" l="0" r="-2774" t="0"/>
          <a:stretch/>
        </p:blipFill>
        <p:spPr>
          <a:xfrm>
            <a:off x="3967100" y="3242250"/>
            <a:ext cx="3422275" cy="183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 txBox="1"/>
          <p:nvPr/>
        </p:nvSpPr>
        <p:spPr>
          <a:xfrm>
            <a:off x="3873450" y="2865813"/>
            <a:ext cx="32295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Stoppard</a:t>
            </a:r>
            <a:endParaRPr sz="2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ipm</a:t>
            </a:r>
            <a:endParaRPr sz="3000"/>
          </a:p>
        </p:txBody>
      </p:sp>
      <p:cxnSp>
        <p:nvCxnSpPr>
          <p:cNvPr id="187" name="Google Shape;187;p30"/>
          <p:cNvCxnSpPr/>
          <p:nvPr/>
        </p:nvCxnSpPr>
        <p:spPr>
          <a:xfrm>
            <a:off x="224250" y="857325"/>
            <a:ext cx="869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30"/>
          <p:cNvSpPr txBox="1"/>
          <p:nvPr/>
        </p:nvSpPr>
        <p:spPr>
          <a:xfrm>
            <a:off x="224250" y="857325"/>
            <a:ext cx="1144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Pinter</a:t>
            </a:r>
            <a:endParaRPr sz="2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4187575" y="1067850"/>
            <a:ext cx="20484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pic>
        <p:nvPicPr>
          <p:cNvPr id="190" name="Google Shape;190;p30" title="Снимок 07.02.2026 в 02.1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7250"/>
            <a:ext cx="5136367" cy="149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0"/>
          <p:cNvSpPr txBox="1"/>
          <p:nvPr/>
        </p:nvSpPr>
        <p:spPr>
          <a:xfrm>
            <a:off x="0" y="3071775"/>
            <a:ext cx="20484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Beckett</a:t>
            </a:r>
            <a:endParaRPr sz="2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4472050" y="835125"/>
            <a:ext cx="20484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Mamet</a:t>
            </a:r>
            <a:endParaRPr sz="2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pic>
        <p:nvPicPr>
          <p:cNvPr id="193" name="Google Shape;193;p30" title="Снимок 07.02.2026 в 02.3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250" y="1231125"/>
            <a:ext cx="485775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 txBox="1"/>
          <p:nvPr/>
        </p:nvSpPr>
        <p:spPr>
          <a:xfrm>
            <a:off x="4559875" y="2991150"/>
            <a:ext cx="20484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Stoppard</a:t>
            </a:r>
            <a:endParaRPr sz="2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pic>
        <p:nvPicPr>
          <p:cNvPr id="195" name="Google Shape;195;p30" title="Снимок 07.02.2026 в 02.4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47625" y="3469050"/>
            <a:ext cx="48768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0" title="Снимок 07.02.2026 в 02.43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7675" y="3469050"/>
            <a:ext cx="4914900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TF-IDF</a:t>
            </a:r>
            <a:endParaRPr sz="3000"/>
          </a:p>
        </p:txBody>
      </p:sp>
      <p:cxnSp>
        <p:nvCxnSpPr>
          <p:cNvPr id="202" name="Google Shape;202;p31"/>
          <p:cNvCxnSpPr/>
          <p:nvPr/>
        </p:nvCxnSpPr>
        <p:spPr>
          <a:xfrm>
            <a:off x="224250" y="857325"/>
            <a:ext cx="869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31"/>
          <p:cNvSpPr txBox="1"/>
          <p:nvPr/>
        </p:nvSpPr>
        <p:spPr>
          <a:xfrm>
            <a:off x="224250" y="857325"/>
            <a:ext cx="1144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Pinter</a:t>
            </a:r>
            <a:endParaRPr sz="2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4187575" y="1067850"/>
            <a:ext cx="20484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pic>
        <p:nvPicPr>
          <p:cNvPr id="205" name="Google Shape;205;p31" title="Снимок 07.02.2026 в 02.2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1313700"/>
            <a:ext cx="3605885" cy="351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 txBox="1"/>
          <p:nvPr/>
        </p:nvSpPr>
        <p:spPr>
          <a:xfrm>
            <a:off x="5968375" y="905500"/>
            <a:ext cx="17625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Mamet</a:t>
            </a:r>
            <a:endParaRPr sz="2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pic>
        <p:nvPicPr>
          <p:cNvPr id="207" name="Google Shape;207;p31" title="Снимок 07.02.2026 в 02.2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7826" y="1369050"/>
            <a:ext cx="3762699" cy="35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TF-IDF</a:t>
            </a:r>
            <a:endParaRPr sz="3000"/>
          </a:p>
        </p:txBody>
      </p:sp>
      <p:cxnSp>
        <p:nvCxnSpPr>
          <p:cNvPr id="213" name="Google Shape;213;p32"/>
          <p:cNvCxnSpPr/>
          <p:nvPr/>
        </p:nvCxnSpPr>
        <p:spPr>
          <a:xfrm>
            <a:off x="224250" y="857325"/>
            <a:ext cx="869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32"/>
          <p:cNvSpPr txBox="1"/>
          <p:nvPr/>
        </p:nvSpPr>
        <p:spPr>
          <a:xfrm>
            <a:off x="224250" y="857325"/>
            <a:ext cx="1144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Beckett</a:t>
            </a:r>
            <a:endParaRPr sz="2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4187575" y="1067850"/>
            <a:ext cx="20484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5728500" y="923950"/>
            <a:ext cx="1725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Stoppard</a:t>
            </a:r>
            <a:endParaRPr sz="2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pic>
        <p:nvPicPr>
          <p:cNvPr id="217" name="Google Shape;217;p32" title="Снимок 07.02.2026 в 02.2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7900"/>
            <a:ext cx="3627068" cy="35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2" title="Снимок 07.02.2026 в 02.2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0526" y="1460050"/>
            <a:ext cx="3462450" cy="364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TF-IDF</a:t>
            </a:r>
            <a:endParaRPr sz="3000"/>
          </a:p>
        </p:txBody>
      </p:sp>
      <p:cxnSp>
        <p:nvCxnSpPr>
          <p:cNvPr id="224" name="Google Shape;224;p33"/>
          <p:cNvCxnSpPr/>
          <p:nvPr/>
        </p:nvCxnSpPr>
        <p:spPr>
          <a:xfrm>
            <a:off x="224250" y="857325"/>
            <a:ext cx="869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5" name="Google Shape;225;p33" title="Снимок 07.02.2026 в 02.4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5100"/>
            <a:ext cx="8839200" cy="301478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3"/>
          <p:cNvSpPr txBox="1"/>
          <p:nvPr/>
        </p:nvSpPr>
        <p:spPr>
          <a:xfrm>
            <a:off x="386050" y="4214275"/>
            <a:ext cx="41244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&gt;&gt;&gt;&gt; Высокая уникальность каждого из текстов </a:t>
            </a:r>
            <a:endParaRPr sz="2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Likelihood</a:t>
            </a:r>
            <a:endParaRPr sz="3000"/>
          </a:p>
        </p:txBody>
      </p:sp>
      <p:cxnSp>
        <p:nvCxnSpPr>
          <p:cNvPr id="232" name="Google Shape;232;p34"/>
          <p:cNvCxnSpPr/>
          <p:nvPr/>
        </p:nvCxnSpPr>
        <p:spPr>
          <a:xfrm>
            <a:off x="224250" y="857325"/>
            <a:ext cx="869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3" name="Google Shape;233;p34" title="Снимок 07.02.2026 в 02.4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7500"/>
            <a:ext cx="3707302" cy="38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4"/>
          <p:cNvSpPr txBox="1"/>
          <p:nvPr/>
        </p:nvSpPr>
        <p:spPr>
          <a:xfrm>
            <a:off x="4556675" y="1197050"/>
            <a:ext cx="3635400" cy="25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Принцип максимального правдоподобия:</a:t>
            </a:r>
            <a:endParaRPr sz="15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ebo"/>
              <a:buChar char="-"/>
            </a:pPr>
            <a:r>
              <a:rPr lang="en" sz="15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Просмотреть вокабуляр на каждый текст</a:t>
            </a:r>
            <a:endParaRPr sz="15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ebo"/>
              <a:buChar char="-"/>
            </a:pPr>
            <a:r>
              <a:rPr lang="en" sz="15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Отследить стиль </a:t>
            </a:r>
            <a:endParaRPr sz="15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ebo"/>
              <a:buChar char="-"/>
            </a:pPr>
            <a:r>
              <a:rPr lang="en" sz="15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Нет значений, приближенных к нулю → почти нет совпадений по словам </a:t>
            </a:r>
            <a:endParaRPr sz="15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35" name="Google Shape;235;p34"/>
          <p:cNvSpPr txBox="1"/>
          <p:nvPr/>
        </p:nvSpPr>
        <p:spPr>
          <a:xfrm>
            <a:off x="4842700" y="3642200"/>
            <a:ext cx="34509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&gt;&gt;&gt; простота языка Пинтера, бытовые слова</a:t>
            </a:r>
            <a:endParaRPr sz="12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>
            <p:ph type="title"/>
          </p:nvPr>
        </p:nvSpPr>
        <p:spPr>
          <a:xfrm>
            <a:off x="228600" y="2286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Выводы:</a:t>
            </a:r>
            <a:endParaRPr/>
          </a:p>
        </p:txBody>
      </p:sp>
      <p:sp>
        <p:nvSpPr>
          <p:cNvPr id="241" name="Google Shape;241;p35"/>
          <p:cNvSpPr txBox="1"/>
          <p:nvPr>
            <p:ph idx="1" type="body"/>
          </p:nvPr>
        </p:nvSpPr>
        <p:spPr>
          <a:xfrm>
            <a:off x="228600" y="999327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" sz="1500"/>
              <a:t>Многие элементы неоднозначны: silence and pause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" sz="1500"/>
              <a:t>Рекордсмен по конструкциям с вопросами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" sz="1500"/>
              <a:t>Подтвержденная простота языка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" sz="1500"/>
              <a:t>Использование простых глагол больше чем других частей речи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" sz="1500"/>
              <a:t>Уникальность каждого из драматургов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3054850" y="3056150"/>
            <a:ext cx="5860500" cy="18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Thank</a:t>
            </a:r>
            <a:endParaRPr sz="10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/>
              <a:t>you!</a:t>
            </a:r>
            <a:r>
              <a:rPr lang="en" sz="5000"/>
              <a:t> 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roadmaps by Slidesgo">
  <a:themeElements>
    <a:clrScheme name="Simple Light">
      <a:dk1>
        <a:srgbClr val="161616"/>
      </a:dk1>
      <a:lt1>
        <a:srgbClr val="F0F0F0"/>
      </a:lt1>
      <a:dk2>
        <a:srgbClr val="161616"/>
      </a:dk2>
      <a:lt2>
        <a:srgbClr val="C2C2C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6161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